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embeddedFontLst>
    <p:embeddedFont>
      <p:font typeface="Nunito ExtraLight"/>
      <p:regular r:id="rId14"/>
      <p:bold r:id="rId15"/>
      <p:italic r:id="rId16"/>
      <p:boldItalic r:id="rId17"/>
    </p:embeddedFont>
    <p:embeddedFont>
      <p:font typeface="Nunito"/>
      <p:regular r:id="rId18"/>
      <p:bold r:id="rId19"/>
      <p:italic r:id="rId20"/>
      <p:boldItalic r:id="rId21"/>
    </p:embeddedFont>
    <p:embeddedFont>
      <p:font typeface="Montserrat"/>
      <p:regular r:id="rId22"/>
      <p:bold r:id="rId23"/>
      <p:italic r:id="rId24"/>
      <p:boldItalic r:id="rId25"/>
    </p:embeddedFont>
    <p:embeddedFont>
      <p:font typeface="Montserrat Light"/>
      <p:regular r:id="rId26"/>
      <p:bold r:id="rId27"/>
      <p:italic r:id="rId28"/>
      <p:boldItalic r:id="rId29"/>
    </p:embeddedFont>
    <p:embeddedFont>
      <p:font typeface="Nunito Medium"/>
      <p:regular r:id="rId30"/>
      <p:bold r:id="rId31"/>
      <p:italic r:id="rId32"/>
      <p:boldItalic r:id="rId33"/>
    </p:embeddedFont>
    <p:embeddedFont>
      <p:font typeface="Roboto Light"/>
      <p:regular r:id="rId34"/>
      <p:bold r:id="rId35"/>
      <p:italic r:id="rId36"/>
      <p:boldItalic r:id="rId37"/>
    </p:embeddedFont>
    <p:embeddedFont>
      <p:font typeface="Lexend ExtraLight"/>
      <p:regular r:id="rId38"/>
      <p:bold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40" roundtripDataSignature="AMtx7miD8ZNaP67eXyAN1L0rOV71pe7Z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0F1B980-27EA-4EA6-BDD8-19DB886E5C8B}">
  <a:tblStyle styleId="{30F1B980-27EA-4EA6-BDD8-19DB886E5C8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font" Target="fonts/Nunito-italic.fntdata"/><Relationship Id="rId22" Type="http://schemas.openxmlformats.org/officeDocument/2006/relationships/font" Target="fonts/Montserrat-regular.fntdata"/><Relationship Id="rId21" Type="http://schemas.openxmlformats.org/officeDocument/2006/relationships/font" Target="fonts/Nunito-boldItalic.fntdata"/><Relationship Id="rId24" Type="http://schemas.openxmlformats.org/officeDocument/2006/relationships/font" Target="fonts/Montserrat-italic.fntdata"/><Relationship Id="rId23" Type="http://schemas.openxmlformats.org/officeDocument/2006/relationships/font" Target="fonts/Montserra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ontserratLight-regular.fntdata"/><Relationship Id="rId25" Type="http://schemas.openxmlformats.org/officeDocument/2006/relationships/font" Target="fonts/Montserrat-boldItalic.fntdata"/><Relationship Id="rId28" Type="http://schemas.openxmlformats.org/officeDocument/2006/relationships/font" Target="fonts/MontserratLight-italic.fntdata"/><Relationship Id="rId27" Type="http://schemas.openxmlformats.org/officeDocument/2006/relationships/font" Target="fonts/MontserratLight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ontserratLight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NunitoMedium-bold.fntdata"/><Relationship Id="rId30" Type="http://schemas.openxmlformats.org/officeDocument/2006/relationships/font" Target="fonts/NunitoMedium-regular.fntdata"/><Relationship Id="rId11" Type="http://schemas.openxmlformats.org/officeDocument/2006/relationships/slide" Target="slides/slide5.xml"/><Relationship Id="rId33" Type="http://schemas.openxmlformats.org/officeDocument/2006/relationships/font" Target="fonts/NunitoMedium-boldItalic.fntdata"/><Relationship Id="rId10" Type="http://schemas.openxmlformats.org/officeDocument/2006/relationships/slide" Target="slides/slide4.xml"/><Relationship Id="rId32" Type="http://schemas.openxmlformats.org/officeDocument/2006/relationships/font" Target="fonts/NunitoMedium-italic.fntdata"/><Relationship Id="rId13" Type="http://schemas.openxmlformats.org/officeDocument/2006/relationships/slide" Target="slides/slide7.xml"/><Relationship Id="rId35" Type="http://schemas.openxmlformats.org/officeDocument/2006/relationships/font" Target="fonts/RobotoLight-bold.fntdata"/><Relationship Id="rId12" Type="http://schemas.openxmlformats.org/officeDocument/2006/relationships/slide" Target="slides/slide6.xml"/><Relationship Id="rId34" Type="http://schemas.openxmlformats.org/officeDocument/2006/relationships/font" Target="fonts/RobotoLight-regular.fntdata"/><Relationship Id="rId15" Type="http://schemas.openxmlformats.org/officeDocument/2006/relationships/font" Target="fonts/NunitoExtraLight-bold.fntdata"/><Relationship Id="rId37" Type="http://schemas.openxmlformats.org/officeDocument/2006/relationships/font" Target="fonts/RobotoLight-boldItalic.fntdata"/><Relationship Id="rId14" Type="http://schemas.openxmlformats.org/officeDocument/2006/relationships/font" Target="fonts/NunitoExtraLight-regular.fntdata"/><Relationship Id="rId36" Type="http://schemas.openxmlformats.org/officeDocument/2006/relationships/font" Target="fonts/RobotoLight-italic.fntdata"/><Relationship Id="rId17" Type="http://schemas.openxmlformats.org/officeDocument/2006/relationships/font" Target="fonts/NunitoExtraLight-boldItalic.fntdata"/><Relationship Id="rId39" Type="http://schemas.openxmlformats.org/officeDocument/2006/relationships/font" Target="fonts/LexendExtraLight-bold.fntdata"/><Relationship Id="rId16" Type="http://schemas.openxmlformats.org/officeDocument/2006/relationships/font" Target="fonts/NunitoExtraLight-italic.fntdata"/><Relationship Id="rId38" Type="http://schemas.openxmlformats.org/officeDocument/2006/relationships/font" Target="fonts/LexendExtraLight-regular.fntdata"/><Relationship Id="rId19" Type="http://schemas.openxmlformats.org/officeDocument/2006/relationships/font" Target="fonts/Nunito-bold.fntdata"/><Relationship Id="rId18" Type="http://schemas.openxmlformats.org/officeDocument/2006/relationships/font" Target="fonts/Nuni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Do not alter the font size and color of the text components.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Add your team number and the names of your team members to the assigned text box without making changes to the font and formatting.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- Please do not add extra details to the cover page.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- Ensure that the entire presentation does not exceed three minutes.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- Suggestion: Allocate 10 seconds to this slide.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Reference: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Zhang P, Lu J, Jing Y, Tang S, Zhu D, Bi Y. Global epidemiology of diabetic foot ulceration: a systematic review and meta-analysis. Ann Med. 2017;49: 106–116. doi:10.1080/07853890.2016.1231932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Armstrong DG, Boulton AJM, Bus SA. Diabetic Foot Ulcers and Their Recurrence. Ingelfinger JR, editor. N Engl J Med. 2017;376: 2367–2375. doi:10.1056/NEJMra1615439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Boyko EJ, Ahroni JH, Stensel V, Forsberg RC, Davignon DR, Smith DG. A prospective study of risk factors for diabetic foot ulcer. The Seattle Diabetic Foot Study. Diabetes Care. 1999;22: 1036–1042. doi:10.2337/diacare.22.7.1036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 Fonseca VA. Defining and characterizing the progression of type 2 diabetes. Diabetes Care. 2009;32 Suppl 2: S151-156. doi:10.2337/dc09-S301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 Saboo B, Joshi S, Gupta A, Maheshwari A, Saboo B, Makkar BM, et al. Responsible Use of Oral Corticosteroids in People with Comorbid Diabetes: An Expert Consensus. J Assoc Physicians India. 2024;72: 79–93. doi:10.59556/japi.72.0573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  Singer B, Chaimovitz D, Bucek T, Dayon E, Abbott-Korumi A, Spatz M, et al. Corticosteroid Use in Musculoskeletal and Neuraxial Interventions: Effects on Glycemic Control. Medicina (Mex). 2025;61: 936. doi:10.3390/medicina61050936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7.  Stegge WB aan de, Schut MC, Abu-Hanna A, Baal JG van, Netten JJ van, Bus SA. Development of a prediction model for foot ulcer recurrence in people with diabetes using easy-to-obtain clinical variables. BMJ Open Diabetes Res Care. 2021;9. doi:10.1136/bmjdrc-2021-002257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a67e052a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g3da67e052a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Provide an overview of the Methods section in this slide, including the ML models employed and the rationale for their selection.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Maintain the slide's title and template as provided.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Suggestion: Allocate around 40 seconds to this slide.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Summarize the primary outcomes of your work.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Present the content with a technical focus, yet in a way that is easily understood by non-technical attendees.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Suggestion: Dedicate 45-60 seconds to this slide.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Please do not change the text formatting.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Choose a concise and informative title for this slide, as it serves as the conclusion of your presentation.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Suggestion: Allocate 30-45 seconds for this slide.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Please do not change the text formatting.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Choose a concise and informative title for this slide, as it serves as the conclusion of your presentation.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Suggestion: Allocate 30-45 seconds for this slide.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hyperlink" Target="https://scmsc.com/vascular-surgery/vascular-conditions-treated/diabetic-foot-ulcers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29026" y="4749850"/>
            <a:ext cx="3103299" cy="33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48625" y="1339950"/>
            <a:ext cx="7045674" cy="3318806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"/>
          <p:cNvSpPr txBox="1"/>
          <p:nvPr/>
        </p:nvSpPr>
        <p:spPr>
          <a:xfrm>
            <a:off x="481850" y="478050"/>
            <a:ext cx="7101300" cy="9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Nunito Medium"/>
                <a:ea typeface="Nunito Medium"/>
                <a:cs typeface="Nunito Medium"/>
                <a:sym typeface="Nunito Medium"/>
              </a:rPr>
              <a:t>Cross-sectional Prediction of Diabetic Foot Ulcer Using Machine Learning in Diabetic Patients with EHR from Canadian Primary Care Clinics</a:t>
            </a:r>
            <a:endParaRPr b="0" i="0" sz="2000" u="none" cap="none" strike="noStrike">
              <a:solidFill>
                <a:schemeClr val="dk1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481850" y="1700200"/>
            <a:ext cx="2880900" cy="14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Team #1</a:t>
            </a:r>
            <a:endParaRPr b="0" i="0" sz="1800" u="none" cap="none" strike="noStrike">
              <a:solidFill>
                <a:srgbClr val="666666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>
                <a:solidFill>
                  <a:schemeClr val="dk2"/>
                </a:solidFill>
                <a:latin typeface="Nunito ExtraLight"/>
                <a:ea typeface="Nunito ExtraLight"/>
                <a:cs typeface="Nunito ExtraLight"/>
                <a:sym typeface="Nunito ExtraLight"/>
              </a:rPr>
              <a:t>Chieh En Chen</a:t>
            </a:r>
            <a:endParaRPr sz="1500">
              <a:solidFill>
                <a:schemeClr val="dk2"/>
              </a:solidFill>
              <a:latin typeface="Nunito ExtraLight"/>
              <a:ea typeface="Nunito ExtraLight"/>
              <a:cs typeface="Nunito ExtraLight"/>
              <a:sym typeface="Nunito ExtraLigh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>
                <a:solidFill>
                  <a:schemeClr val="dk2"/>
                </a:solidFill>
                <a:latin typeface="Nunito ExtraLight"/>
                <a:ea typeface="Nunito ExtraLight"/>
                <a:cs typeface="Nunito ExtraLight"/>
                <a:sym typeface="Nunito ExtraLight"/>
              </a:rPr>
              <a:t>Owusu Boakye Gideon</a:t>
            </a:r>
            <a:endParaRPr sz="1500">
              <a:solidFill>
                <a:schemeClr val="dk2"/>
              </a:solidFill>
              <a:latin typeface="Nunito ExtraLight"/>
              <a:ea typeface="Nunito ExtraLight"/>
              <a:cs typeface="Nunito ExtraLight"/>
              <a:sym typeface="Nunito ExtraLigh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>
                <a:solidFill>
                  <a:schemeClr val="dk2"/>
                </a:solidFill>
                <a:latin typeface="Nunito ExtraLight"/>
                <a:ea typeface="Nunito ExtraLight"/>
                <a:cs typeface="Nunito ExtraLight"/>
                <a:sym typeface="Nunito ExtraLight"/>
              </a:rPr>
              <a:t>Jessie Tian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"/>
          <p:cNvSpPr txBox="1"/>
          <p:nvPr/>
        </p:nvSpPr>
        <p:spPr>
          <a:xfrm>
            <a:off x="545925" y="3726300"/>
            <a:ext cx="4578300" cy="14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6E5AA3"/>
                </a:solidFill>
                <a:latin typeface="Roboto Light"/>
                <a:ea typeface="Roboto Light"/>
                <a:cs typeface="Roboto Light"/>
                <a:sym typeface="Roboto Light"/>
              </a:rPr>
              <a:t>HAD5016- APPLIED MACHINE LEARNING FOR HEALTH DATA</a:t>
            </a:r>
            <a:endParaRPr b="0" i="0" sz="1500" u="none" cap="none" strike="noStrike">
              <a:solidFill>
                <a:srgbClr val="6E5AA3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6E5AA3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C0C07C"/>
                </a:solidFill>
                <a:latin typeface="Lexend ExtraLight"/>
                <a:ea typeface="Lexend ExtraLight"/>
                <a:cs typeface="Lexend ExtraLight"/>
                <a:sym typeface="Lexend ExtraLight"/>
              </a:rPr>
              <a:t>Winter 2026</a:t>
            </a:r>
            <a:endParaRPr b="0" i="0" sz="1300" u="none" cap="none" strike="noStrike">
              <a:solidFill>
                <a:srgbClr val="C0C07C"/>
              </a:solidFill>
              <a:latin typeface="Lexend ExtraLight"/>
              <a:ea typeface="Lexend ExtraLight"/>
              <a:cs typeface="Lexend ExtraLight"/>
              <a:sym typeface="Lexend Extra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666666"/>
                </a:solidFill>
                <a:latin typeface="Lexend ExtraLight"/>
                <a:ea typeface="Lexend ExtraLight"/>
                <a:cs typeface="Lexend ExtraLight"/>
                <a:sym typeface="Lexend ExtraLight"/>
              </a:rPr>
              <a:t>University of Toronto</a:t>
            </a:r>
            <a:endParaRPr b="0" i="0" sz="1300" u="none" cap="none" strike="noStrike">
              <a:solidFill>
                <a:srgbClr val="666666"/>
              </a:solidFill>
              <a:latin typeface="Lexend ExtraLight"/>
              <a:ea typeface="Lexend ExtraLight"/>
              <a:cs typeface="Lexend ExtraLight"/>
              <a:sym typeface="Lexend Extra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7600" y="1188550"/>
            <a:ext cx="2953375" cy="26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2"/>
          <p:cNvSpPr/>
          <p:nvPr/>
        </p:nvSpPr>
        <p:spPr>
          <a:xfrm>
            <a:off x="261375" y="279575"/>
            <a:ext cx="7439100" cy="501000"/>
          </a:xfrm>
          <a:prstGeom prst="roundRect">
            <a:avLst>
              <a:gd fmla="val 50000" name="adj"/>
            </a:avLst>
          </a:prstGeom>
          <a:solidFill>
            <a:srgbClr val="E5DEF7">
              <a:alpha val="40000"/>
            </a:srgbClr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" name="Google Shape;65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40701" y="4804075"/>
            <a:ext cx="3103299" cy="33942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2"/>
          <p:cNvSpPr txBox="1"/>
          <p:nvPr/>
        </p:nvSpPr>
        <p:spPr>
          <a:xfrm>
            <a:off x="402475" y="279575"/>
            <a:ext cx="6223200" cy="5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4C3E70"/>
                </a:solidFill>
                <a:latin typeface="Nunito Medium"/>
                <a:ea typeface="Nunito Medium"/>
                <a:cs typeface="Nunito Medium"/>
                <a:sym typeface="Nunito Medium"/>
              </a:rPr>
              <a:t>Background</a:t>
            </a:r>
            <a:endParaRPr b="0" i="0" sz="2000" u="none" cap="none" strike="noStrike">
              <a:solidFill>
                <a:srgbClr val="4C3E70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67" name="Google Shape;67;p2"/>
          <p:cNvSpPr txBox="1"/>
          <p:nvPr/>
        </p:nvSpPr>
        <p:spPr>
          <a:xfrm>
            <a:off x="356900" y="995450"/>
            <a:ext cx="5877000" cy="39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09550" lvl="0" marL="40005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ExtraLight"/>
              <a:buChar char="●"/>
            </a:pPr>
            <a:r>
              <a:rPr lang="en" sz="1500">
                <a:solidFill>
                  <a:schemeClr val="dk1"/>
                </a:solidFill>
                <a:latin typeface="Nunito ExtraLight"/>
                <a:ea typeface="Nunito ExtraLight"/>
                <a:cs typeface="Nunito ExtraLight"/>
                <a:sym typeface="Nunito ExtraLight"/>
              </a:rPr>
              <a:t>Diabetic foot ulcer </a:t>
            </a:r>
            <a:r>
              <a:rPr lang="en" sz="1500">
                <a:solidFill>
                  <a:schemeClr val="dk1"/>
                </a:solidFill>
                <a:latin typeface="Nunito ExtraLight"/>
                <a:ea typeface="Nunito ExtraLight"/>
                <a:cs typeface="Nunito ExtraLight"/>
                <a:sym typeface="Nunito ExtraLight"/>
              </a:rPr>
              <a:t>(DFU) - complication</a:t>
            </a:r>
            <a:r>
              <a:rPr lang="en" sz="1500">
                <a:solidFill>
                  <a:schemeClr val="dk1"/>
                </a:solidFill>
                <a:latin typeface="Nunito ExtraLight"/>
                <a:ea typeface="Nunito ExtraLight"/>
                <a:cs typeface="Nunito ExtraLight"/>
                <a:sym typeface="Nunito ExtraLight"/>
              </a:rPr>
              <a:t> of diabetes</a:t>
            </a:r>
            <a:endParaRPr sz="1500">
              <a:solidFill>
                <a:schemeClr val="dk1"/>
              </a:solidFill>
              <a:latin typeface="Nunito ExtraLight"/>
              <a:ea typeface="Nunito ExtraLight"/>
              <a:cs typeface="Nunito ExtraLight"/>
              <a:sym typeface="Nunito ExtraLight"/>
            </a:endParaRPr>
          </a:p>
          <a:p>
            <a:pPr indent="-323850" lvl="1" marL="9144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ExtraLight"/>
              <a:buChar char="○"/>
            </a:pPr>
            <a:r>
              <a:rPr lang="en" sz="1500">
                <a:solidFill>
                  <a:schemeClr val="dk1"/>
                </a:solidFill>
                <a:latin typeface="Nunito ExtraLight"/>
                <a:ea typeface="Nunito ExtraLight"/>
                <a:cs typeface="Nunito ExtraLight"/>
                <a:sym typeface="Nunito ExtraLight"/>
              </a:rPr>
              <a:t>Global prevalence - </a:t>
            </a:r>
            <a:r>
              <a:rPr b="1" lang="en" sz="15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6.4%</a:t>
            </a:r>
            <a:r>
              <a:rPr lang="en" sz="1500">
                <a:solidFill>
                  <a:schemeClr val="dk1"/>
                </a:solidFill>
                <a:latin typeface="Nunito ExtraLight"/>
                <a:ea typeface="Nunito ExtraLight"/>
                <a:cs typeface="Nunito ExtraLight"/>
                <a:sym typeface="Nunito ExtraLight"/>
              </a:rPr>
              <a:t> in type 2 diabetes patients </a:t>
            </a:r>
            <a:r>
              <a:rPr baseline="30000" lang="en" sz="1500">
                <a:solidFill>
                  <a:schemeClr val="dk1"/>
                </a:solidFill>
                <a:latin typeface="Nunito ExtraLight"/>
                <a:ea typeface="Nunito ExtraLight"/>
                <a:cs typeface="Nunito ExtraLight"/>
                <a:sym typeface="Nunito ExtraLight"/>
              </a:rPr>
              <a:t>[1]</a:t>
            </a:r>
            <a:endParaRPr baseline="30000" sz="1500">
              <a:solidFill>
                <a:schemeClr val="dk1"/>
              </a:solidFill>
              <a:latin typeface="Nunito ExtraLight"/>
              <a:ea typeface="Nunito ExtraLight"/>
              <a:cs typeface="Nunito ExtraLight"/>
              <a:sym typeface="Nunito ExtraLight"/>
            </a:endParaRPr>
          </a:p>
          <a:p>
            <a:pPr indent="-323850" lvl="1" marL="9144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ExtraLight"/>
              <a:buChar char="○"/>
            </a:pPr>
            <a:r>
              <a:rPr b="1" lang="en" sz="15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20%</a:t>
            </a:r>
            <a:r>
              <a:rPr lang="en" sz="1500">
                <a:solidFill>
                  <a:schemeClr val="dk1"/>
                </a:solidFill>
                <a:latin typeface="Nunito ExtraLight"/>
                <a:ea typeface="Nunito ExtraLight"/>
                <a:cs typeface="Nunito ExtraLight"/>
                <a:sym typeface="Nunito ExtraLight"/>
              </a:rPr>
              <a:t> of moderate or severe diabetic foot infections lead to amputation</a:t>
            </a:r>
            <a:r>
              <a:rPr baseline="30000" lang="en" sz="1500">
                <a:solidFill>
                  <a:schemeClr val="dk1"/>
                </a:solidFill>
                <a:latin typeface="Nunito ExtraLight"/>
                <a:ea typeface="Nunito ExtraLight"/>
                <a:cs typeface="Nunito ExtraLight"/>
                <a:sym typeface="Nunito ExtraLight"/>
              </a:rPr>
              <a:t> [2]</a:t>
            </a:r>
            <a:endParaRPr sz="1500">
              <a:solidFill>
                <a:schemeClr val="dk1"/>
              </a:solidFill>
              <a:latin typeface="Nunito ExtraLight"/>
              <a:ea typeface="Nunito ExtraLight"/>
              <a:cs typeface="Nunito ExtraLight"/>
              <a:sym typeface="Nunito ExtraLight"/>
            </a:endParaRPr>
          </a:p>
          <a:p>
            <a:pPr indent="-209550" lvl="0" marL="40005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ExtraLight"/>
              <a:buChar char="●"/>
            </a:pPr>
            <a:r>
              <a:rPr lang="en" sz="1500">
                <a:solidFill>
                  <a:schemeClr val="dk1"/>
                </a:solidFill>
                <a:latin typeface="Nunito ExtraLight"/>
                <a:ea typeface="Nunito ExtraLight"/>
                <a:cs typeface="Nunito ExtraLight"/>
                <a:sym typeface="Nunito ExtraLight"/>
              </a:rPr>
              <a:t>Early identification of high-risk patients is crucial</a:t>
            </a:r>
            <a:endParaRPr sz="1500">
              <a:solidFill>
                <a:schemeClr val="dk1"/>
              </a:solidFill>
              <a:latin typeface="Nunito ExtraLight"/>
              <a:ea typeface="Nunito ExtraLight"/>
              <a:cs typeface="Nunito ExtraLight"/>
              <a:sym typeface="Nunito ExtraLight"/>
            </a:endParaRPr>
          </a:p>
          <a:p>
            <a:pPr indent="-323850" lvl="1" marL="9144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ExtraLight"/>
              <a:buChar char="○"/>
            </a:pPr>
            <a:r>
              <a:rPr lang="en" sz="1500">
                <a:solidFill>
                  <a:schemeClr val="dk1"/>
                </a:solidFill>
                <a:latin typeface="Nunito ExtraLight"/>
                <a:ea typeface="Nunito ExtraLight"/>
                <a:cs typeface="Nunito ExtraLight"/>
                <a:sym typeface="Nunito ExtraLight"/>
              </a:rPr>
              <a:t>Poor glycemic control (HbA1c, fasting blood sugar) </a:t>
            </a:r>
            <a:r>
              <a:rPr baseline="30000" lang="en" sz="1500">
                <a:solidFill>
                  <a:schemeClr val="dk1"/>
                </a:solidFill>
                <a:latin typeface="Nunito ExtraLight"/>
                <a:ea typeface="Nunito ExtraLight"/>
                <a:cs typeface="Nunito ExtraLight"/>
                <a:sym typeface="Nunito ExtraLight"/>
              </a:rPr>
              <a:t>[3]</a:t>
            </a:r>
            <a:endParaRPr sz="1500">
              <a:solidFill>
                <a:schemeClr val="dk1"/>
              </a:solidFill>
              <a:latin typeface="Nunito ExtraLight"/>
              <a:ea typeface="Nunito ExtraLight"/>
              <a:cs typeface="Nunito ExtraLight"/>
              <a:sym typeface="Nunito ExtraLight"/>
            </a:endParaRPr>
          </a:p>
          <a:p>
            <a:pPr indent="-323850" lvl="1" marL="9144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ExtraLight"/>
              <a:buChar char="○"/>
            </a:pPr>
            <a:r>
              <a:rPr lang="en" sz="1500">
                <a:solidFill>
                  <a:schemeClr val="dk1"/>
                </a:solidFill>
                <a:latin typeface="Nunito ExtraLight"/>
                <a:ea typeface="Nunito ExtraLight"/>
                <a:cs typeface="Nunito ExtraLight"/>
                <a:sym typeface="Nunito ExtraLight"/>
              </a:rPr>
              <a:t>Prolong duration of DM meds and second-line </a:t>
            </a:r>
            <a:r>
              <a:rPr baseline="30000" lang="en" sz="1500">
                <a:solidFill>
                  <a:schemeClr val="dk1"/>
                </a:solidFill>
                <a:latin typeface="Nunito ExtraLight"/>
                <a:ea typeface="Nunito ExtraLight"/>
                <a:cs typeface="Nunito ExtraLight"/>
                <a:sym typeface="Nunito ExtraLight"/>
              </a:rPr>
              <a:t>[4]</a:t>
            </a:r>
            <a:endParaRPr baseline="30000" sz="1500">
              <a:solidFill>
                <a:schemeClr val="dk1"/>
              </a:solidFill>
              <a:latin typeface="Nunito ExtraLight"/>
              <a:ea typeface="Nunito ExtraLight"/>
              <a:cs typeface="Nunito ExtraLight"/>
              <a:sym typeface="Nunito ExtraLight"/>
            </a:endParaRPr>
          </a:p>
          <a:p>
            <a:pPr indent="-323850" lvl="1" marL="9144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ExtraLight"/>
              <a:buChar char="○"/>
            </a:pPr>
            <a:r>
              <a:rPr lang="en" sz="1500">
                <a:solidFill>
                  <a:schemeClr val="dk1"/>
                </a:solidFill>
                <a:latin typeface="Nunito ExtraLight"/>
                <a:ea typeface="Nunito ExtraLight"/>
                <a:cs typeface="Nunito ExtraLight"/>
                <a:sym typeface="Nunito ExtraLight"/>
              </a:rPr>
              <a:t>Long-term corticosteroids use hampers wound healing and exacerbates hyperglycemia</a:t>
            </a:r>
            <a:r>
              <a:rPr baseline="30000" lang="en" sz="1500">
                <a:solidFill>
                  <a:schemeClr val="dk1"/>
                </a:solidFill>
                <a:latin typeface="Nunito ExtraLight"/>
                <a:ea typeface="Nunito ExtraLight"/>
                <a:cs typeface="Nunito ExtraLight"/>
                <a:sym typeface="Nunito ExtraLight"/>
              </a:rPr>
              <a:t> [5,6]</a:t>
            </a:r>
            <a:endParaRPr baseline="30000" sz="1500">
              <a:solidFill>
                <a:schemeClr val="dk1"/>
              </a:solidFill>
              <a:latin typeface="Nunito ExtraLight"/>
              <a:ea typeface="Nunito ExtraLight"/>
              <a:cs typeface="Nunito ExtraLight"/>
              <a:sym typeface="Nunito ExtraLight"/>
            </a:endParaRPr>
          </a:p>
          <a:p>
            <a:pPr indent="-209550" lvl="0" marL="40005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ExtraLight"/>
              <a:buChar char="●"/>
            </a:pPr>
            <a:r>
              <a:rPr lang="en" sz="1500">
                <a:solidFill>
                  <a:schemeClr val="dk1"/>
                </a:solidFill>
                <a:latin typeface="Nunito ExtraLight"/>
                <a:ea typeface="Nunito ExtraLight"/>
                <a:cs typeface="Nunito ExtraLight"/>
                <a:sym typeface="Nunito ExtraLight"/>
              </a:rPr>
              <a:t>Stegge et al.</a:t>
            </a:r>
            <a:r>
              <a:rPr baseline="30000" lang="en" sz="1500">
                <a:solidFill>
                  <a:schemeClr val="dk1"/>
                </a:solidFill>
                <a:latin typeface="Nunito ExtraLight"/>
                <a:ea typeface="Nunito ExtraLight"/>
                <a:cs typeface="Nunito ExtraLight"/>
                <a:sym typeface="Nunito ExtraLight"/>
              </a:rPr>
              <a:t> [7] </a:t>
            </a:r>
            <a:r>
              <a:rPr lang="en" sz="1500">
                <a:solidFill>
                  <a:schemeClr val="dk1"/>
                </a:solidFill>
                <a:latin typeface="Nunito ExtraLight"/>
                <a:ea typeface="Nunito ExtraLight"/>
                <a:cs typeface="Nunito ExtraLight"/>
                <a:sym typeface="Nunito ExtraLight"/>
              </a:rPr>
              <a:t>- age, history of neuropathy and lesion -&gt;regression model with AUC = 0.69</a:t>
            </a:r>
            <a:endParaRPr sz="1500">
              <a:solidFill>
                <a:schemeClr val="dk1"/>
              </a:solidFill>
              <a:latin typeface="Nunito ExtraLight"/>
              <a:ea typeface="Nunito ExtraLight"/>
              <a:cs typeface="Nunito ExtraLight"/>
              <a:sym typeface="Nunito ExtraLight"/>
            </a:endParaRPr>
          </a:p>
          <a:p>
            <a:pPr indent="-209550" lvl="0" marL="400050" marR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500"/>
              <a:buFont typeface="Nunito ExtraLight"/>
              <a:buChar char="●"/>
            </a:pPr>
            <a:r>
              <a:rPr lang="en" sz="1500">
                <a:solidFill>
                  <a:schemeClr val="dk1"/>
                </a:solidFill>
                <a:latin typeface="Nunito ExtraLight"/>
                <a:ea typeface="Nunito ExtraLight"/>
                <a:cs typeface="Nunito ExtraLight"/>
                <a:sym typeface="Nunito ExtraLight"/>
              </a:rPr>
              <a:t>Gap in use of </a:t>
            </a:r>
            <a:r>
              <a:rPr b="1" lang="en" sz="15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DM meds and corticosteroid</a:t>
            </a:r>
            <a:r>
              <a:rPr lang="en" sz="1500">
                <a:solidFill>
                  <a:schemeClr val="dk1"/>
                </a:solidFill>
                <a:latin typeface="Nunito ExtraLight"/>
                <a:ea typeface="Nunito ExtraLight"/>
                <a:cs typeface="Nunito ExtraLight"/>
                <a:sym typeface="Nunito ExtraLight"/>
              </a:rPr>
              <a:t> to predict DFU </a:t>
            </a:r>
            <a:endParaRPr sz="1500">
              <a:solidFill>
                <a:schemeClr val="dk1"/>
              </a:solidFill>
              <a:latin typeface="Nunito ExtraLight"/>
              <a:ea typeface="Nunito ExtraLight"/>
              <a:cs typeface="Nunito ExtraLight"/>
              <a:sym typeface="Nunito ExtraLight"/>
            </a:endParaRPr>
          </a:p>
        </p:txBody>
      </p:sp>
      <p:pic>
        <p:nvPicPr>
          <p:cNvPr id="68" name="Google Shape;68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79425" y="279575"/>
            <a:ext cx="1063605" cy="5010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2"/>
          <p:cNvSpPr txBox="1"/>
          <p:nvPr/>
        </p:nvSpPr>
        <p:spPr>
          <a:xfrm>
            <a:off x="6075675" y="3884050"/>
            <a:ext cx="2917200" cy="5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Figure </a:t>
            </a:r>
            <a:r>
              <a:rPr b="1" lang="en"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r>
              <a:rPr b="1" i="0" lang="en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lang="en"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Illustration of diabetic foot and its cause. </a:t>
            </a:r>
            <a:endParaRPr sz="12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Image credit: </a:t>
            </a:r>
            <a:r>
              <a:rPr lang="en" sz="600" u="sng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  <a:hlinkClick r:id="rId6"/>
              </a:rPr>
              <a:t>Diabetic Foot Ulcers treated at SCMSC in Los Angeles</a:t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2"/>
          <p:cNvSpPr txBox="1"/>
          <p:nvPr/>
        </p:nvSpPr>
        <p:spPr>
          <a:xfrm>
            <a:off x="7123175" y="18220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16025" y="1144100"/>
            <a:ext cx="3509576" cy="3185699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3"/>
          <p:cNvSpPr/>
          <p:nvPr/>
        </p:nvSpPr>
        <p:spPr>
          <a:xfrm>
            <a:off x="261375" y="279575"/>
            <a:ext cx="7439100" cy="501000"/>
          </a:xfrm>
          <a:prstGeom prst="roundRect">
            <a:avLst>
              <a:gd fmla="val 50000" name="adj"/>
            </a:avLst>
          </a:prstGeom>
          <a:solidFill>
            <a:srgbClr val="E5DEF7">
              <a:alpha val="40000"/>
            </a:srgbClr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" name="Google Shape;7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40701" y="4804075"/>
            <a:ext cx="3103299" cy="33942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3"/>
          <p:cNvSpPr txBox="1"/>
          <p:nvPr/>
        </p:nvSpPr>
        <p:spPr>
          <a:xfrm>
            <a:off x="402475" y="279575"/>
            <a:ext cx="6223200" cy="5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4C3E70"/>
                </a:solidFill>
                <a:latin typeface="Nunito Medium"/>
                <a:ea typeface="Nunito Medium"/>
                <a:cs typeface="Nunito Medium"/>
                <a:sym typeface="Nunito Medium"/>
              </a:rPr>
              <a:t>Objectives</a:t>
            </a:r>
            <a:endParaRPr b="0" i="0" sz="2000" u="none" cap="none" strike="noStrike">
              <a:solidFill>
                <a:srgbClr val="4C3E70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79" name="Google Shape;79;p3"/>
          <p:cNvSpPr txBox="1"/>
          <p:nvPr/>
        </p:nvSpPr>
        <p:spPr>
          <a:xfrm>
            <a:off x="356900" y="966075"/>
            <a:ext cx="5877000" cy="39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09550" lvl="0" marL="40005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ExtraLight"/>
              <a:buChar char="●"/>
            </a:pPr>
            <a:r>
              <a:rPr lang="en" sz="1500">
                <a:solidFill>
                  <a:schemeClr val="dk1"/>
                </a:solidFill>
                <a:latin typeface="Nunito ExtraLight"/>
                <a:ea typeface="Nunito ExtraLight"/>
                <a:cs typeface="Nunito ExtraLight"/>
                <a:sym typeface="Nunito ExtraLight"/>
              </a:rPr>
              <a:t>To p</a:t>
            </a:r>
            <a:r>
              <a:rPr lang="en" sz="1500">
                <a:solidFill>
                  <a:schemeClr val="dk1"/>
                </a:solidFill>
                <a:latin typeface="Nunito ExtraLight"/>
                <a:ea typeface="Nunito ExtraLight"/>
                <a:cs typeface="Nunito ExtraLight"/>
                <a:sym typeface="Nunito ExtraLight"/>
              </a:rPr>
              <a:t>redict occurrence of DFU using </a:t>
            </a:r>
            <a:r>
              <a:rPr b="1" lang="en" sz="15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routine glycemic indicators</a:t>
            </a:r>
            <a:r>
              <a:rPr lang="en" sz="1500">
                <a:solidFill>
                  <a:schemeClr val="dk1"/>
                </a:solidFill>
                <a:latin typeface="Nunito ExtraLight"/>
                <a:ea typeface="Nunito ExtraLight"/>
                <a:cs typeface="Nunito ExtraLight"/>
                <a:sym typeface="Nunito ExtraLight"/>
              </a:rPr>
              <a:t> and </a:t>
            </a:r>
            <a:r>
              <a:rPr b="1" lang="en" sz="15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cumulative medication history</a:t>
            </a:r>
            <a:r>
              <a:rPr lang="en" sz="1500">
                <a:solidFill>
                  <a:schemeClr val="dk1"/>
                </a:solidFill>
                <a:latin typeface="Nunito ExtraLight"/>
                <a:ea typeface="Nunito ExtraLight"/>
                <a:cs typeface="Nunito ExtraLight"/>
                <a:sym typeface="Nunito ExtraLight"/>
              </a:rPr>
              <a:t> in diabetic patients</a:t>
            </a:r>
            <a:endParaRPr sz="1500">
              <a:solidFill>
                <a:schemeClr val="dk1"/>
              </a:solidFill>
              <a:latin typeface="Nunito ExtraLight"/>
              <a:ea typeface="Nunito ExtraLight"/>
              <a:cs typeface="Nunito ExtraLight"/>
              <a:sym typeface="Nunito ExtraLight"/>
            </a:endParaRPr>
          </a:p>
          <a:p>
            <a:pPr indent="-209550" lvl="0" marL="40005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ExtraLight"/>
              <a:buChar char="●"/>
            </a:pPr>
            <a:r>
              <a:rPr lang="en" sz="1500">
                <a:solidFill>
                  <a:schemeClr val="dk1"/>
                </a:solidFill>
                <a:latin typeface="Nunito ExtraLight"/>
                <a:ea typeface="Nunito ExtraLight"/>
                <a:cs typeface="Nunito ExtraLight"/>
                <a:sym typeface="Nunito ExtraLight"/>
              </a:rPr>
              <a:t>Research questions</a:t>
            </a:r>
            <a:endParaRPr sz="1500">
              <a:solidFill>
                <a:schemeClr val="dk1"/>
              </a:solidFill>
              <a:latin typeface="Nunito ExtraLight"/>
              <a:ea typeface="Nunito ExtraLight"/>
              <a:cs typeface="Nunito ExtraLight"/>
              <a:sym typeface="Nunito ExtraLight"/>
            </a:endParaRPr>
          </a:p>
          <a:p>
            <a:pPr indent="-323850" lvl="1" marL="9144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ExtraLight"/>
              <a:buChar char="○"/>
            </a:pPr>
            <a:r>
              <a:rPr lang="en" sz="1500">
                <a:solidFill>
                  <a:schemeClr val="dk1"/>
                </a:solidFill>
                <a:latin typeface="Nunito ExtraLight"/>
                <a:ea typeface="Nunito ExtraLight"/>
                <a:cs typeface="Nunito ExtraLight"/>
                <a:sym typeface="Nunito ExtraLight"/>
              </a:rPr>
              <a:t>Can a combination of routine glycemic indicators (HbA1c, FBS) and cumulative medication histories (duration of corticosteroids and antidiabetic agents) predict the occurrence of diabetic foot ulcers?</a:t>
            </a:r>
            <a:endParaRPr sz="1500">
              <a:solidFill>
                <a:schemeClr val="dk1"/>
              </a:solidFill>
              <a:latin typeface="Nunito ExtraLight"/>
              <a:ea typeface="Nunito ExtraLight"/>
              <a:cs typeface="Nunito ExtraLight"/>
              <a:sym typeface="Nunito ExtraLight"/>
            </a:endParaRPr>
          </a:p>
          <a:p>
            <a:pPr indent="-323850" lvl="1" marL="9144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ExtraLight"/>
              <a:buChar char="○"/>
            </a:pPr>
            <a:r>
              <a:rPr lang="en" sz="1500">
                <a:solidFill>
                  <a:schemeClr val="dk1"/>
                </a:solidFill>
                <a:latin typeface="Nunito ExtraLight"/>
                <a:ea typeface="Nunito ExtraLight"/>
                <a:cs typeface="Nunito ExtraLight"/>
                <a:sym typeface="Nunito ExtraLight"/>
              </a:rPr>
              <a:t>Model performance difference between </a:t>
            </a:r>
            <a:r>
              <a:rPr b="1" lang="en" sz="15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logistic regression</a:t>
            </a:r>
            <a:r>
              <a:rPr lang="en" sz="1500">
                <a:solidFill>
                  <a:schemeClr val="dk1"/>
                </a:solidFill>
                <a:latin typeface="Nunito ExtraLight"/>
                <a:ea typeface="Nunito ExtraLight"/>
                <a:cs typeface="Nunito ExtraLight"/>
                <a:sym typeface="Nunito ExtraLight"/>
              </a:rPr>
              <a:t>, </a:t>
            </a:r>
            <a:r>
              <a:rPr b="1" lang="en" sz="15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Gaussian Naïve Bayes (GNB)</a:t>
            </a:r>
            <a:r>
              <a:rPr lang="en" sz="1500">
                <a:solidFill>
                  <a:schemeClr val="dk1"/>
                </a:solidFill>
                <a:latin typeface="Nunito ExtraLight"/>
                <a:ea typeface="Nunito ExtraLight"/>
                <a:cs typeface="Nunito ExtraLight"/>
                <a:sym typeface="Nunito ExtraLight"/>
              </a:rPr>
              <a:t>, </a:t>
            </a:r>
            <a:r>
              <a:rPr b="1" lang="en" sz="15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XGBoost</a:t>
            </a:r>
            <a:endParaRPr b="1" i="0" sz="15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09550" lvl="0" marL="40005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ExtraLight"/>
              <a:buChar char="●"/>
            </a:pPr>
            <a:r>
              <a:rPr lang="en" sz="1500">
                <a:solidFill>
                  <a:schemeClr val="dk1"/>
                </a:solidFill>
                <a:latin typeface="Nunito ExtraLight"/>
                <a:ea typeface="Nunito ExtraLight"/>
                <a:cs typeface="Nunito ExtraLight"/>
                <a:sym typeface="Nunito ExtraLight"/>
              </a:rPr>
              <a:t>Canadian Primary Care Sentinel Surveillance Network (CPCSSN) - chronic disease EHR from primary care clinics</a:t>
            </a:r>
            <a:endParaRPr sz="1500">
              <a:solidFill>
                <a:schemeClr val="dk1"/>
              </a:solidFill>
              <a:latin typeface="Nunito ExtraLight"/>
              <a:ea typeface="Nunito ExtraLight"/>
              <a:cs typeface="Nunito ExtraLight"/>
              <a:sym typeface="Nunito ExtraLight"/>
            </a:endParaRPr>
          </a:p>
          <a:p>
            <a:pPr indent="-323850" lvl="1" marL="9144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ExtraLight"/>
              <a:buChar char="○"/>
            </a:pPr>
            <a:r>
              <a:rPr lang="en" sz="1500">
                <a:solidFill>
                  <a:schemeClr val="dk1"/>
                </a:solidFill>
                <a:latin typeface="Nunito ExtraLight"/>
                <a:ea typeface="Nunito ExtraLight"/>
                <a:cs typeface="Nunito ExtraLight"/>
                <a:sym typeface="Nunito ExtraLight"/>
              </a:rPr>
              <a:t>1990 to 2015</a:t>
            </a:r>
            <a:endParaRPr sz="1500">
              <a:solidFill>
                <a:schemeClr val="dk1"/>
              </a:solidFill>
              <a:latin typeface="Nunito ExtraLight"/>
              <a:ea typeface="Nunito ExtraLight"/>
              <a:cs typeface="Nunito ExtraLight"/>
              <a:sym typeface="Nunito ExtraLight"/>
            </a:endParaRPr>
          </a:p>
          <a:p>
            <a:pPr indent="-323850" lvl="1" marL="914400" marR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500"/>
              <a:buFont typeface="Nunito ExtraLight"/>
              <a:buChar char="○"/>
            </a:pPr>
            <a:r>
              <a:rPr lang="en" sz="1500">
                <a:solidFill>
                  <a:schemeClr val="dk1"/>
                </a:solidFill>
                <a:latin typeface="Nunito ExtraLight"/>
                <a:ea typeface="Nunito ExtraLight"/>
                <a:cs typeface="Nunito ExtraLight"/>
                <a:sym typeface="Nunito ExtraLight"/>
              </a:rPr>
              <a:t>808,921 rows in total</a:t>
            </a:r>
            <a:endParaRPr sz="1500">
              <a:solidFill>
                <a:schemeClr val="dk1"/>
              </a:solidFill>
              <a:latin typeface="Nunito ExtraLight"/>
              <a:ea typeface="Nunito ExtraLight"/>
              <a:cs typeface="Nunito ExtraLight"/>
              <a:sym typeface="Nunito ExtraLight"/>
            </a:endParaRPr>
          </a:p>
        </p:txBody>
      </p:sp>
      <p:pic>
        <p:nvPicPr>
          <p:cNvPr id="80" name="Google Shape;80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79425" y="279575"/>
            <a:ext cx="1063605" cy="5010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3"/>
          <p:cNvSpPr/>
          <p:nvPr/>
        </p:nvSpPr>
        <p:spPr>
          <a:xfrm>
            <a:off x="6644464" y="1213975"/>
            <a:ext cx="1566300" cy="501000"/>
          </a:xfrm>
          <a:prstGeom prst="roundRect">
            <a:avLst>
              <a:gd fmla="val 50000" name="adj"/>
            </a:avLst>
          </a:prstGeom>
          <a:solidFill>
            <a:srgbClr val="E5DEF7">
              <a:alpha val="40000"/>
            </a:srgbClr>
          </a:solidFill>
          <a:ln cap="flat" cmpd="sng" w="9525">
            <a:solidFill>
              <a:srgbClr val="6E5A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" sz="1300">
                <a:solidFill>
                  <a:schemeClr val="dk1"/>
                </a:solidFill>
                <a:latin typeface="Nunito ExtraLight"/>
                <a:ea typeface="Nunito ExtraLight"/>
                <a:cs typeface="Nunito ExtraLight"/>
                <a:sym typeface="Nunito ExtraLight"/>
              </a:rPr>
              <a:t>234,464 DM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6652825" y="2205625"/>
            <a:ext cx="1566300" cy="501000"/>
          </a:xfrm>
          <a:prstGeom prst="roundRect">
            <a:avLst>
              <a:gd fmla="val 50000" name="adj"/>
            </a:avLst>
          </a:prstGeom>
          <a:solidFill>
            <a:srgbClr val="E5DEF7">
              <a:alpha val="40000"/>
            </a:srgbClr>
          </a:solidFill>
          <a:ln cap="flat" cmpd="sng" w="9525">
            <a:solidFill>
              <a:srgbClr val="6E5A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Nunito ExtraLight"/>
                <a:ea typeface="Nunito ExtraLight"/>
                <a:cs typeface="Nunito ExtraLight"/>
                <a:sym typeface="Nunito ExtraLight"/>
              </a:rPr>
              <a:t>31,297</a:t>
            </a:r>
            <a:r>
              <a:rPr lang="en" sz="1300">
                <a:solidFill>
                  <a:schemeClr val="dk1"/>
                </a:solidFill>
                <a:latin typeface="Nunito ExtraLight"/>
                <a:ea typeface="Nunito ExtraLight"/>
                <a:cs typeface="Nunito ExtraLight"/>
                <a:sym typeface="Nunito ExtraLight"/>
              </a:rPr>
              <a:t> </a:t>
            </a:r>
            <a:endParaRPr sz="1300">
              <a:solidFill>
                <a:schemeClr val="dk1"/>
              </a:solidFill>
              <a:latin typeface="Nunito ExtraLight"/>
              <a:ea typeface="Nunito ExtraLight"/>
              <a:cs typeface="Nunito ExtraLight"/>
              <a:sym typeface="Nunito ExtraLight"/>
            </a:endParaRPr>
          </a:p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" sz="1300">
                <a:solidFill>
                  <a:schemeClr val="dk1"/>
                </a:solidFill>
                <a:latin typeface="Nunito ExtraLight"/>
                <a:ea typeface="Nunito ExtraLight"/>
                <a:cs typeface="Nunito ExtraLight"/>
                <a:sym typeface="Nunito ExtraLight"/>
              </a:rPr>
              <a:t>DFU records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5821925" y="3297475"/>
            <a:ext cx="1566300" cy="501000"/>
          </a:xfrm>
          <a:prstGeom prst="roundRect">
            <a:avLst>
              <a:gd fmla="val 50000" name="adj"/>
            </a:avLst>
          </a:prstGeom>
          <a:solidFill>
            <a:srgbClr val="E5DEF7">
              <a:alpha val="40000"/>
            </a:srgbClr>
          </a:solidFill>
          <a:ln cap="flat" cmpd="sng" w="9525">
            <a:solidFill>
              <a:srgbClr val="6E5A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Nunito ExtraLight"/>
                <a:ea typeface="Nunito ExtraLight"/>
                <a:cs typeface="Nunito ExtraLight"/>
                <a:sym typeface="Nunito ExtraLight"/>
              </a:rPr>
              <a:t>31,167 no DFU</a:t>
            </a:r>
            <a:endParaRPr sz="1300">
              <a:solidFill>
                <a:schemeClr val="dk1"/>
              </a:solidFill>
              <a:latin typeface="Nunito ExtraLight"/>
              <a:ea typeface="Nunito ExtraLight"/>
              <a:cs typeface="Nunito ExtraLight"/>
              <a:sym typeface="Nunito ExtraLight"/>
            </a:endParaRPr>
          </a:p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" sz="1300">
                <a:solidFill>
                  <a:schemeClr val="dk1"/>
                </a:solidFill>
                <a:latin typeface="Nunito ExtraLight"/>
                <a:ea typeface="Nunito ExtraLight"/>
                <a:cs typeface="Nunito ExtraLight"/>
                <a:sym typeface="Nunito ExtraLight"/>
              </a:rPr>
              <a:t>(99.6%)</a:t>
            </a:r>
            <a:endParaRPr sz="1300">
              <a:solidFill>
                <a:schemeClr val="dk1"/>
              </a:solidFill>
              <a:latin typeface="Nunito ExtraLight"/>
              <a:ea typeface="Nunito ExtraLight"/>
              <a:cs typeface="Nunito ExtraLight"/>
              <a:sym typeface="Nunito ExtraLight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7543025" y="3255725"/>
            <a:ext cx="1566300" cy="501000"/>
          </a:xfrm>
          <a:prstGeom prst="roundRect">
            <a:avLst>
              <a:gd fmla="val 50000" name="adj"/>
            </a:avLst>
          </a:prstGeom>
          <a:solidFill>
            <a:srgbClr val="E5DEF7">
              <a:alpha val="40000"/>
            </a:srgbClr>
          </a:solidFill>
          <a:ln cap="flat" cmpd="sng" w="9525">
            <a:solidFill>
              <a:srgbClr val="6E5A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" sz="1300">
                <a:solidFill>
                  <a:schemeClr val="dk1"/>
                </a:solidFill>
                <a:latin typeface="Nunito ExtraLight"/>
                <a:ea typeface="Nunito ExtraLight"/>
                <a:cs typeface="Nunito ExtraLight"/>
                <a:sym typeface="Nunito ExtraLight"/>
              </a:rPr>
              <a:t>130 had</a:t>
            </a:r>
            <a:r>
              <a:rPr lang="en" sz="1300">
                <a:solidFill>
                  <a:schemeClr val="dk1"/>
                </a:solidFill>
                <a:latin typeface="Nunito ExtraLight"/>
                <a:ea typeface="Nunito ExtraLight"/>
                <a:cs typeface="Nunito ExtraLight"/>
                <a:sym typeface="Nunito ExtraLight"/>
              </a:rPr>
              <a:t> DFU (0.4%)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5" name="Google Shape;85;p3"/>
          <p:cNvCxnSpPr>
            <a:stCxn id="81" idx="2"/>
            <a:endCxn id="82" idx="0"/>
          </p:cNvCxnSpPr>
          <p:nvPr/>
        </p:nvCxnSpPr>
        <p:spPr>
          <a:xfrm>
            <a:off x="7427614" y="1714975"/>
            <a:ext cx="8400" cy="49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6" name="Google Shape;86;p3"/>
          <p:cNvCxnSpPr>
            <a:stCxn id="82" idx="2"/>
            <a:endCxn id="83" idx="0"/>
          </p:cNvCxnSpPr>
          <p:nvPr/>
        </p:nvCxnSpPr>
        <p:spPr>
          <a:xfrm flipH="1">
            <a:off x="6604975" y="2706625"/>
            <a:ext cx="831000" cy="59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" name="Google Shape;87;p3"/>
          <p:cNvCxnSpPr>
            <a:stCxn id="82" idx="2"/>
            <a:endCxn id="84" idx="0"/>
          </p:cNvCxnSpPr>
          <p:nvPr/>
        </p:nvCxnSpPr>
        <p:spPr>
          <a:xfrm>
            <a:off x="7435975" y="2706625"/>
            <a:ext cx="890100" cy="54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" name="Google Shape;88;p3"/>
          <p:cNvCxnSpPr/>
          <p:nvPr/>
        </p:nvCxnSpPr>
        <p:spPr>
          <a:xfrm flipH="1" rot="10800000">
            <a:off x="7438925" y="1923160"/>
            <a:ext cx="419700" cy="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" name="Google Shape;89;p3"/>
          <p:cNvSpPr txBox="1"/>
          <p:nvPr/>
        </p:nvSpPr>
        <p:spPr>
          <a:xfrm>
            <a:off x="7792625" y="1680000"/>
            <a:ext cx="1475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Nunito ExtraLight"/>
                <a:ea typeface="Nunito ExtraLight"/>
                <a:cs typeface="Nunito ExtraLight"/>
                <a:sym typeface="Nunito ExtraLight"/>
              </a:rPr>
              <a:t>203,167 </a:t>
            </a:r>
            <a:endParaRPr sz="1000">
              <a:solidFill>
                <a:schemeClr val="dk1"/>
              </a:solidFill>
              <a:latin typeface="Nunito ExtraLight"/>
              <a:ea typeface="Nunito ExtraLight"/>
              <a:cs typeface="Nunito ExtraLight"/>
              <a:sym typeface="Nunito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Nunito ExtraLight"/>
                <a:ea typeface="Nunito ExtraLight"/>
                <a:cs typeface="Nunito ExtraLight"/>
                <a:sym typeface="Nunito ExtraLight"/>
              </a:rPr>
              <a:t>missing DFU outcome</a:t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a67e052a9_0_0"/>
          <p:cNvSpPr/>
          <p:nvPr/>
        </p:nvSpPr>
        <p:spPr>
          <a:xfrm>
            <a:off x="511675" y="279575"/>
            <a:ext cx="8281500" cy="576000"/>
          </a:xfrm>
          <a:prstGeom prst="roundRect">
            <a:avLst>
              <a:gd fmla="val 50000" name="adj"/>
            </a:avLst>
          </a:prstGeom>
          <a:solidFill>
            <a:srgbClr val="E5DEF7">
              <a:alpha val="40000"/>
            </a:srgbClr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" name="Google Shape;95;g3da67e052a9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40701" y="4804075"/>
            <a:ext cx="3103299" cy="33942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g3da67e052a9_0_0"/>
          <p:cNvSpPr txBox="1"/>
          <p:nvPr/>
        </p:nvSpPr>
        <p:spPr>
          <a:xfrm>
            <a:off x="766500" y="317075"/>
            <a:ext cx="7843200" cy="5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4C3E70"/>
                </a:solidFill>
                <a:latin typeface="Nunito Medium"/>
                <a:ea typeface="Nunito Medium"/>
                <a:cs typeface="Nunito Medium"/>
                <a:sym typeface="Nunito Medium"/>
              </a:rPr>
              <a:t>Methodology</a:t>
            </a:r>
            <a:endParaRPr b="0" i="0" sz="2000" u="none" cap="none" strike="noStrike">
              <a:solidFill>
                <a:srgbClr val="4C3E70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pic>
        <p:nvPicPr>
          <p:cNvPr id="97" name="Google Shape;97;g3da67e052a9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59700" y="242075"/>
            <a:ext cx="1063601" cy="575999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g3da67e052a9_0_0"/>
          <p:cNvSpPr txBox="1"/>
          <p:nvPr/>
        </p:nvSpPr>
        <p:spPr>
          <a:xfrm>
            <a:off x="624250" y="818075"/>
            <a:ext cx="8326800" cy="41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highlight>
                  <a:schemeClr val="accent6"/>
                </a:highlight>
                <a:latin typeface="Montserrat"/>
                <a:ea typeface="Montserrat"/>
                <a:cs typeface="Montserrat"/>
                <a:sym typeface="Montserrat"/>
              </a:rPr>
              <a:t>ML models and me</a:t>
            </a:r>
            <a:r>
              <a:rPr b="1" lang="en" sz="1200">
                <a:solidFill>
                  <a:schemeClr val="dk1"/>
                </a:solidFill>
                <a:highlight>
                  <a:schemeClr val="accent6"/>
                </a:highlight>
                <a:latin typeface="Montserrat"/>
                <a:ea typeface="Montserrat"/>
                <a:cs typeface="Montserrat"/>
                <a:sym typeface="Montserrat"/>
              </a:rPr>
              <a:t>thods selected for handling binary target variable </a:t>
            </a:r>
            <a:r>
              <a:rPr b="1" lang="en" sz="1200">
                <a:solidFill>
                  <a:schemeClr val="dk1"/>
                </a:solidFill>
                <a:highlight>
                  <a:schemeClr val="accent6"/>
                </a:highlight>
                <a:latin typeface="Montserrat"/>
                <a:ea typeface="Montserrat"/>
                <a:cs typeface="Montserrat"/>
                <a:sym typeface="Montserrat"/>
              </a:rPr>
              <a:t>classification</a:t>
            </a:r>
            <a:r>
              <a:rPr b="1" lang="en" sz="1200">
                <a:solidFill>
                  <a:schemeClr val="dk1"/>
                </a:solidFill>
                <a:highlight>
                  <a:schemeClr val="accent6"/>
                </a:highlight>
                <a:latin typeface="Montserrat"/>
                <a:ea typeface="Montserrat"/>
                <a:cs typeface="Montserrat"/>
                <a:sym typeface="Montserrat"/>
              </a:rPr>
              <a:t> class and</a:t>
            </a:r>
            <a:r>
              <a:rPr b="1" lang="en" sz="1200" u="sng">
                <a:solidFill>
                  <a:schemeClr val="dk1"/>
                </a:solidFill>
                <a:highlight>
                  <a:schemeClr val="accent6"/>
                </a:highlight>
                <a:latin typeface="Montserrat"/>
                <a:ea typeface="Montserrat"/>
                <a:cs typeface="Montserrat"/>
                <a:sym typeface="Montserrat"/>
              </a:rPr>
              <a:t> high class imbalance </a:t>
            </a:r>
            <a:endParaRPr b="1" sz="1200" u="sng">
              <a:solidFill>
                <a:schemeClr val="dk1"/>
              </a:solidFill>
              <a:highlight>
                <a:schemeClr val="accent6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Light"/>
              <a:buChar char="●"/>
            </a:pPr>
            <a:r>
              <a:rPr lang="en" sz="1200" u="sng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Logistic regression: </a:t>
            </a:r>
            <a:r>
              <a:rPr lang="en" sz="12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Easy i</a:t>
            </a:r>
            <a:r>
              <a:rPr lang="en" sz="12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nterpretability</a:t>
            </a:r>
            <a:r>
              <a:rPr lang="en" sz="12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endParaRPr sz="12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Light"/>
              <a:buChar char="●"/>
            </a:pPr>
            <a:r>
              <a:rPr lang="en" sz="1200" u="sng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GNB:</a:t>
            </a:r>
            <a:r>
              <a:rPr lang="en" sz="12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Less training data required (assume independent attributes), quickest/least computationally intense</a:t>
            </a:r>
            <a:endParaRPr sz="12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Light"/>
              <a:buChar char="●"/>
            </a:pPr>
            <a:r>
              <a:rPr lang="en" sz="1200" u="sng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XGBoost:</a:t>
            </a: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12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built-in regularization ensemble method</a:t>
            </a:r>
            <a:endParaRPr sz="12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Preprocessing</a:t>
            </a:r>
            <a:endParaRPr b="1"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Light"/>
              <a:buChar char="●"/>
            </a:pPr>
            <a:r>
              <a:rPr lang="en" sz="1200" u="sng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Training/testing split</a:t>
            </a:r>
            <a:r>
              <a:rPr lang="en" sz="12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: stratify and group by patient ID to ensure positive DFU cases presence in both sets</a:t>
            </a:r>
            <a:endParaRPr sz="12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Light"/>
              <a:buChar char="●"/>
            </a:pPr>
            <a:r>
              <a:rPr lang="en" sz="12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Multiple Imputations (MICE) to address MAR for HbA1c on separate training/test</a:t>
            </a:r>
            <a:endParaRPr sz="12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Hyperparameter tuning using GridSearch </a:t>
            </a:r>
            <a:r>
              <a:rPr lang="en" sz="12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with stratified K-fold cross-validation (k=5)</a:t>
            </a:r>
            <a:endParaRPr sz="12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Light"/>
              <a:buChar char="●"/>
            </a:pPr>
            <a:r>
              <a:rPr lang="en" sz="12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Logistic: “balanced” class weight vs no weights</a:t>
            </a:r>
            <a:endParaRPr sz="12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Light"/>
              <a:buChar char="●"/>
            </a:pPr>
            <a:r>
              <a:rPr lang="en" sz="12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GNB: range of smoothing parameter to balance variance and bias trade-off</a:t>
            </a:r>
            <a:endParaRPr sz="12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Light"/>
              <a:buChar char="●"/>
            </a:pPr>
            <a:r>
              <a:rPr lang="en" sz="12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L2 regularization</a:t>
            </a:r>
            <a:endParaRPr sz="12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Light"/>
              <a:buChar char="●"/>
            </a:pPr>
            <a:r>
              <a:rPr lang="en" sz="12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Resampling techniques: undersampling majority, oversampling minority, combined</a:t>
            </a:r>
            <a:endParaRPr sz="12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Recall </a:t>
            </a:r>
            <a:r>
              <a:rPr lang="en" sz="12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optimization metric</a:t>
            </a:r>
            <a:endParaRPr sz="12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666666"/>
                </a:solidFill>
                <a:latin typeface="Montserrat"/>
                <a:ea typeface="Montserrat"/>
                <a:cs typeface="Montserrat"/>
                <a:sym typeface="Montserrat"/>
              </a:rPr>
              <a:t>          </a:t>
            </a:r>
            <a:endParaRPr b="1" sz="1200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666666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"/>
          <p:cNvSpPr/>
          <p:nvPr/>
        </p:nvSpPr>
        <p:spPr>
          <a:xfrm>
            <a:off x="485075" y="279575"/>
            <a:ext cx="8223300" cy="501000"/>
          </a:xfrm>
          <a:prstGeom prst="roundRect">
            <a:avLst>
              <a:gd fmla="val 50000" name="adj"/>
            </a:avLst>
          </a:prstGeom>
          <a:solidFill>
            <a:srgbClr val="E5DEF7">
              <a:alpha val="40000"/>
            </a:srgbClr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4" name="Google Shape;10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40701" y="4804075"/>
            <a:ext cx="3103299" cy="339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5"/>
          <p:cNvSpPr txBox="1"/>
          <p:nvPr/>
        </p:nvSpPr>
        <p:spPr>
          <a:xfrm>
            <a:off x="687925" y="279575"/>
            <a:ext cx="6816000" cy="5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4C3E70"/>
                </a:solidFill>
                <a:latin typeface="Nunito Medium"/>
                <a:ea typeface="Nunito Medium"/>
                <a:cs typeface="Nunito Medium"/>
                <a:sym typeface="Nunito Medium"/>
              </a:rPr>
              <a:t>Results</a:t>
            </a:r>
            <a:endParaRPr b="0" i="0" sz="2000" u="none" cap="none" strike="noStrike">
              <a:solidFill>
                <a:srgbClr val="4C3E70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06" name="Google Shape;106;p5"/>
          <p:cNvSpPr txBox="1"/>
          <p:nvPr/>
        </p:nvSpPr>
        <p:spPr>
          <a:xfrm>
            <a:off x="3665025" y="1295504"/>
            <a:ext cx="4690800" cy="3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09550" lvl="0" marL="40005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"/>
              <a:buChar char="●"/>
            </a:pPr>
            <a:r>
              <a:rPr b="1" lang="en" sz="1500">
                <a:solidFill>
                  <a:schemeClr val="dk1"/>
                </a:solidFill>
                <a:highlight>
                  <a:schemeClr val="accent6"/>
                </a:highlight>
                <a:latin typeface="Nunito"/>
                <a:ea typeface="Nunito"/>
                <a:cs typeface="Nunito"/>
                <a:sym typeface="Nunito"/>
              </a:rPr>
              <a:t>Best performing model: Logistic regression with undersampling majority (weighted recall: 0.807; macro avg recall:</a:t>
            </a:r>
            <a:r>
              <a:rPr b="1" lang="en" sz="1500">
                <a:solidFill>
                  <a:schemeClr val="dk1"/>
                </a:solidFill>
                <a:highlight>
                  <a:schemeClr val="accent6"/>
                </a:highlight>
                <a:latin typeface="Nunito"/>
                <a:ea typeface="Nunito"/>
                <a:cs typeface="Nunito"/>
                <a:sym typeface="Nunito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 0.903)</a:t>
            </a:r>
            <a:endParaRPr b="1" sz="1500">
              <a:solidFill>
                <a:schemeClr val="dk1"/>
              </a:solidFill>
              <a:highlight>
                <a:schemeClr val="accent6"/>
              </a:highlight>
              <a:latin typeface="Nunito"/>
              <a:ea typeface="Nunito"/>
              <a:cs typeface="Nunito"/>
              <a:sym typeface="Nunito"/>
              <a:extLst>
                <a:ext uri="http://customooxmlschemas.google.com/">
                  <go:slidesCustomData xmlns:go="http://customooxmlschemas.google.com/" textRoundtripDataId="1"/>
                </a:ext>
              </a:extLst>
            </a:endParaRPr>
          </a:p>
          <a:p>
            <a:pPr indent="-209550" lvl="0" marL="40005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ExtraLight"/>
              <a:buChar char="●"/>
            </a:pPr>
            <a:r>
              <a:rPr lang="en" sz="1500" u="sng">
                <a:solidFill>
                  <a:schemeClr val="dk1"/>
                </a:solidFill>
                <a:latin typeface="Nunito ExtraLight"/>
                <a:ea typeface="Nunito ExtraLight"/>
                <a:cs typeface="Nunito ExtraLight"/>
                <a:sym typeface="Nunito ExtraLight"/>
                <a:extLst>
                  <a:ext uri="http://customooxmlschemas.google.com/">
                    <go:slidesCustomData xmlns:go="http://customooxmlschemas.google.com/" textRoundtripDataId="2"/>
                  </a:ext>
                </a:extLst>
              </a:rPr>
              <a:t>Positive DFU class: </a:t>
            </a:r>
            <a:r>
              <a:rPr lang="en" sz="1500">
                <a:solidFill>
                  <a:schemeClr val="dk1"/>
                </a:solidFill>
                <a:latin typeface="Nunito ExtraLight"/>
                <a:ea typeface="Nunito ExtraLight"/>
                <a:cs typeface="Nunito ExtraLight"/>
                <a:sym typeface="Nunito ExtraLight"/>
                <a:extLst>
                  <a:ext uri="http://customooxmlschemas.google.com/">
                    <go:slidesCustomData xmlns:go="http://customooxmlschemas.google.com/" textRoundtripDataId="3"/>
                  </a:ext>
                </a:extLst>
              </a:rPr>
              <a:t>perfect recall (1.00) mean model correctly predicted 29/29 outcomes in test set; high rate of false positives (precision = 0.022)</a:t>
            </a:r>
            <a:endParaRPr b="1" sz="15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09550" lvl="0" marL="40005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ExtraLight"/>
              <a:buChar char="●"/>
            </a:pPr>
            <a:r>
              <a:rPr lang="en" sz="1500">
                <a:solidFill>
                  <a:schemeClr val="dk1"/>
                </a:solidFill>
                <a:latin typeface="Nunito ExtraLight"/>
                <a:ea typeface="Nunito ExtraLight"/>
                <a:cs typeface="Nunito ExtraLight"/>
                <a:sym typeface="Nunito ExtraLight"/>
              </a:rPr>
              <a:t>Logistic regression less prone to bias from extreme class imbalance compared to XGBoost and GNB is conditional on feature independence</a:t>
            </a:r>
            <a:endParaRPr sz="1500">
              <a:solidFill>
                <a:schemeClr val="dk1"/>
              </a:solidFill>
              <a:latin typeface="Nunito ExtraLight"/>
              <a:ea typeface="Nunito ExtraLight"/>
              <a:cs typeface="Nunito ExtraLight"/>
              <a:sym typeface="Nunito ExtraLight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Nunito ExtraLight"/>
              <a:ea typeface="Nunito ExtraLight"/>
              <a:cs typeface="Nunito ExtraLight"/>
              <a:sym typeface="Nunito ExtraLight"/>
            </a:endParaRPr>
          </a:p>
        </p:txBody>
      </p:sp>
      <p:pic>
        <p:nvPicPr>
          <p:cNvPr id="107" name="Google Shape;10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03775" y="279575"/>
            <a:ext cx="1063605" cy="501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5"/>
          <p:cNvSpPr txBox="1"/>
          <p:nvPr/>
        </p:nvSpPr>
        <p:spPr>
          <a:xfrm>
            <a:off x="691441" y="2582503"/>
            <a:ext cx="24423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78600" lIns="78600" spcFirstLastPara="1" rIns="78600" wrap="square" tIns="78600">
            <a:noAutofit/>
          </a:bodyPr>
          <a:lstStyle/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2"/>
              <a:buFont typeface="Arial"/>
              <a:buNone/>
            </a:pPr>
            <a:r>
              <a:rPr b="1" i="0" lang="en" sz="86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Figure </a:t>
            </a:r>
            <a:r>
              <a:rPr b="1" lang="en" sz="86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2</a:t>
            </a:r>
            <a:r>
              <a:rPr b="1" i="0" lang="en" sz="86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: Confusion ma</a:t>
            </a:r>
            <a:r>
              <a:rPr b="1" lang="en" sz="86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trix of best logistic regression model. </a:t>
            </a:r>
            <a:r>
              <a:rPr b="0" i="0" lang="en" sz="1376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376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" name="Google Shape;109;p5" title="presentation figure 1.png"/>
          <p:cNvPicPr preferRelativeResize="0"/>
          <p:nvPr/>
        </p:nvPicPr>
        <p:blipFill rotWithShape="1">
          <a:blip r:embed="rId5">
            <a:alphaModFix/>
          </a:blip>
          <a:srcRect b="0" l="0" r="0" t="6094"/>
          <a:stretch/>
        </p:blipFill>
        <p:spPr>
          <a:xfrm>
            <a:off x="972172" y="885408"/>
            <a:ext cx="2003524" cy="16622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5" title="presentation figure 2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6608" y="2887767"/>
            <a:ext cx="2344973" cy="1797933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5"/>
          <p:cNvSpPr txBox="1"/>
          <p:nvPr/>
        </p:nvSpPr>
        <p:spPr>
          <a:xfrm>
            <a:off x="687928" y="4685703"/>
            <a:ext cx="24423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78600" lIns="78600" spcFirstLastPara="1" rIns="78600" wrap="square" tIns="7860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2"/>
              <a:buFont typeface="Arial"/>
              <a:buNone/>
            </a:pPr>
            <a:r>
              <a:rPr b="1" i="0" lang="en" sz="86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Figure </a:t>
            </a:r>
            <a:r>
              <a:rPr b="1" lang="en" sz="86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3: ROC-AUC curves of training and testing sets of best logistic regression model.</a:t>
            </a:r>
            <a:endParaRPr b="0" i="0" sz="1376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"/>
          <p:cNvSpPr/>
          <p:nvPr/>
        </p:nvSpPr>
        <p:spPr>
          <a:xfrm>
            <a:off x="261375" y="279575"/>
            <a:ext cx="8447100" cy="501000"/>
          </a:xfrm>
          <a:prstGeom prst="roundRect">
            <a:avLst>
              <a:gd fmla="val 50000" name="adj"/>
            </a:avLst>
          </a:prstGeom>
          <a:solidFill>
            <a:srgbClr val="E5DEF7">
              <a:alpha val="40000"/>
            </a:srgbClr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7" name="Google Shape;11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40701" y="4804075"/>
            <a:ext cx="3103299" cy="339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6"/>
          <p:cNvSpPr txBox="1"/>
          <p:nvPr/>
        </p:nvSpPr>
        <p:spPr>
          <a:xfrm>
            <a:off x="402475" y="279575"/>
            <a:ext cx="7101300" cy="5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4C3E70"/>
                </a:solidFill>
                <a:latin typeface="Nunito Medium"/>
                <a:ea typeface="Nunito Medium"/>
                <a:cs typeface="Nunito Medium"/>
                <a:sym typeface="Nunito Medium"/>
              </a:rPr>
              <a:t>Takeaways </a:t>
            </a:r>
            <a:endParaRPr b="0" i="0" sz="2000" u="none" cap="none" strike="noStrike">
              <a:solidFill>
                <a:srgbClr val="4C3E70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19" name="Google Shape;119;p6"/>
          <p:cNvSpPr txBox="1"/>
          <p:nvPr/>
        </p:nvSpPr>
        <p:spPr>
          <a:xfrm>
            <a:off x="402475" y="1356825"/>
            <a:ext cx="4387800" cy="33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09550" lvl="0" marL="40005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"/>
              <a:buChar char="●"/>
            </a:pPr>
            <a:r>
              <a:rPr b="1" lang="en" sz="1500">
                <a:solidFill>
                  <a:schemeClr val="dk1"/>
                </a:solidFill>
                <a:highlight>
                  <a:schemeClr val="accent6"/>
                </a:highlight>
                <a:latin typeface="Nunito"/>
                <a:ea typeface="Nunito"/>
                <a:cs typeface="Nunito"/>
                <a:sym typeface="Nunito"/>
                <a:extLst>
                  <a:ext uri="http://customooxmlschemas.google.com/">
                    <go:slidesCustomData xmlns:go="http://customooxmlschemas.google.com/" textRoundtripDataId="4"/>
                  </a:ext>
                </a:extLst>
              </a:rPr>
              <a:t>Logistic regression model outperformed GNB and XGBoost at binary DFU classification task</a:t>
            </a:r>
            <a:endParaRPr b="1" sz="1500">
              <a:solidFill>
                <a:schemeClr val="dk1"/>
              </a:solidFill>
              <a:highlight>
                <a:schemeClr val="accent6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-209550" lvl="0" marL="40005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"/>
              <a:buChar char="●"/>
            </a:pPr>
            <a:r>
              <a:rPr b="1" lang="en" sz="15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Demonstrated how cumulative medication history and glycemic biomarkers might be used as clinically meaningful predictors for DFU </a:t>
            </a:r>
            <a:endParaRPr b="1" sz="15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09550" lvl="0" marL="40005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ExtraLight"/>
              <a:buChar char="●"/>
            </a:pPr>
            <a:r>
              <a:rPr lang="en" sz="1500">
                <a:solidFill>
                  <a:schemeClr val="dk1"/>
                </a:solidFill>
                <a:latin typeface="Nunito ExtraLight"/>
                <a:ea typeface="Nunito ExtraLight"/>
                <a:cs typeface="Nunito ExtraLight"/>
                <a:sym typeface="Nunito ExtraLight"/>
              </a:rPr>
              <a:t>Cross-sectional treatment of data risk label leakage</a:t>
            </a:r>
            <a:endParaRPr sz="1500">
              <a:solidFill>
                <a:schemeClr val="dk1"/>
              </a:solidFill>
              <a:latin typeface="Nunito ExtraLight"/>
              <a:ea typeface="Nunito ExtraLight"/>
              <a:cs typeface="Nunito ExtraLight"/>
              <a:sym typeface="Nunito ExtraLight"/>
            </a:endParaRPr>
          </a:p>
          <a:p>
            <a:pPr indent="-209550" lvl="0" marL="40005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ExtraLight"/>
              <a:buChar char="●"/>
            </a:pPr>
            <a:r>
              <a:rPr lang="en" sz="1500">
                <a:solidFill>
                  <a:schemeClr val="dk1"/>
                </a:solidFill>
                <a:latin typeface="Nunito ExtraLight"/>
                <a:ea typeface="Nunito ExtraLight"/>
                <a:cs typeface="Nunito ExtraLight"/>
                <a:sym typeface="Nunito ExtraLight"/>
              </a:rPr>
              <a:t>Low positive outcome class causes high variance limited generalizability</a:t>
            </a:r>
            <a:endParaRPr sz="1500">
              <a:solidFill>
                <a:schemeClr val="dk1"/>
              </a:solidFill>
              <a:latin typeface="Nunito ExtraLight"/>
              <a:ea typeface="Nunito ExtraLight"/>
              <a:cs typeface="Nunito ExtraLight"/>
              <a:sym typeface="Nunito ExtraLigh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Nunito ExtraLight"/>
              <a:ea typeface="Nunito ExtraLight"/>
              <a:cs typeface="Nunito ExtraLight"/>
              <a:sym typeface="Nunito ExtraLight"/>
            </a:endParaRPr>
          </a:p>
        </p:txBody>
      </p:sp>
      <p:pic>
        <p:nvPicPr>
          <p:cNvPr id="120" name="Google Shape;12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03775" y="279575"/>
            <a:ext cx="1063605" cy="501001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6"/>
          <p:cNvSpPr txBox="1"/>
          <p:nvPr/>
        </p:nvSpPr>
        <p:spPr>
          <a:xfrm>
            <a:off x="5335900" y="3858700"/>
            <a:ext cx="3679500" cy="5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"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Table</a:t>
            </a:r>
            <a:r>
              <a:rPr b="1" i="0" lang="en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4: </a:t>
            </a:r>
            <a:r>
              <a:rPr lang="en"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Model Performance (Recall). 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22" name="Google Shape;122;p6"/>
          <p:cNvGraphicFramePr/>
          <p:nvPr/>
        </p:nvGraphicFramePr>
        <p:xfrm>
          <a:off x="5335888" y="1489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{30F1B980-27EA-4EA6-BDD8-19DB886E5C8B}</a:tableStyleId>
              </a:tblPr>
              <a:tblGrid>
                <a:gridCol w="1060975"/>
                <a:gridCol w="1247550"/>
                <a:gridCol w="12475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E5DEF7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 </a:t>
                      </a:r>
                      <a:r>
                        <a:rPr lang="en" sz="1200"/>
                        <a:t>(weighted avg)</a:t>
                      </a:r>
                      <a:endParaRPr sz="1200"/>
                    </a:p>
                  </a:txBody>
                  <a:tcPr marT="91425" marB="91425" marR="91425" marL="91425" anchor="ctr">
                    <a:solidFill>
                      <a:srgbClr val="E5DEF7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 for positive DFU cases</a:t>
                      </a:r>
                      <a:endParaRPr/>
                    </a:p>
                  </a:txBody>
                  <a:tcPr marT="91425" marB="91425" marR="91425" marL="91425" anchor="ctr">
                    <a:solidFill>
                      <a:srgbClr val="E5DEF7">
                        <a:alpha val="40000"/>
                      </a:srgbClr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accent6"/>
                          </a:highlight>
                        </a:rPr>
                        <a:t>Logistic regression</a:t>
                      </a:r>
                      <a:endParaRPr>
                        <a:highlight>
                          <a:schemeClr val="accent6"/>
                        </a:highlight>
                      </a:endParaRPr>
                    </a:p>
                  </a:txBody>
                  <a:tcPr marT="91425" marB="91425" marR="91425" marL="91425">
                    <a:solidFill>
                      <a:srgbClr val="E5DEF7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accent6"/>
                          </a:highlight>
                        </a:rPr>
                        <a:t>0.807</a:t>
                      </a:r>
                      <a:endParaRPr>
                        <a:highlight>
                          <a:schemeClr val="accent6"/>
                        </a:highlight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highlight>
                            <a:schemeClr val="accent6"/>
                          </a:highlight>
                        </a:rPr>
                        <a:t>1.0</a:t>
                      </a:r>
                      <a:endParaRPr>
                        <a:highlight>
                          <a:schemeClr val="accent6"/>
                        </a:highlight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GNB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E5DEF7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0.708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XGBoot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E5DEF7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0.994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"/>
          <p:cNvSpPr/>
          <p:nvPr/>
        </p:nvSpPr>
        <p:spPr>
          <a:xfrm>
            <a:off x="261375" y="279575"/>
            <a:ext cx="8447100" cy="501000"/>
          </a:xfrm>
          <a:prstGeom prst="roundRect">
            <a:avLst>
              <a:gd fmla="val 50000" name="adj"/>
            </a:avLst>
          </a:prstGeom>
          <a:solidFill>
            <a:srgbClr val="E5DEF7">
              <a:alpha val="40000"/>
            </a:srgbClr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" name="Google Shape;12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40701" y="4804075"/>
            <a:ext cx="3103299" cy="3394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7"/>
          <p:cNvSpPr txBox="1"/>
          <p:nvPr/>
        </p:nvSpPr>
        <p:spPr>
          <a:xfrm>
            <a:off x="402475" y="279575"/>
            <a:ext cx="7101300" cy="5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>
                <a:solidFill>
                  <a:srgbClr val="4C3E70"/>
                </a:solidFill>
                <a:latin typeface="Nunito Medium"/>
                <a:ea typeface="Nunito Medium"/>
                <a:cs typeface="Nunito Medium"/>
                <a:sym typeface="Nunito Medium"/>
              </a:rPr>
              <a:t>Beyond Prediction - </a:t>
            </a:r>
            <a:r>
              <a:rPr lang="en" sz="2000">
                <a:solidFill>
                  <a:srgbClr val="4C3E70"/>
                </a:solidFill>
                <a:latin typeface="Nunito Medium"/>
                <a:ea typeface="Nunito Medium"/>
                <a:cs typeface="Nunito Medium"/>
                <a:sym typeface="Nunito Medium"/>
              </a:rPr>
              <a:t>Leveraging AI and Equity in Workflows</a:t>
            </a:r>
            <a:endParaRPr b="0" i="0" sz="2000" u="none" cap="none" strike="noStrike">
              <a:solidFill>
                <a:srgbClr val="4C3E70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30" name="Google Shape;130;p7"/>
          <p:cNvSpPr txBox="1"/>
          <p:nvPr/>
        </p:nvSpPr>
        <p:spPr>
          <a:xfrm>
            <a:off x="356900" y="1055900"/>
            <a:ext cx="4623900" cy="3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09550" lvl="0" marL="40005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ExtraLight"/>
              <a:buChar char="●"/>
            </a:pPr>
            <a:r>
              <a:rPr lang="en" sz="1500">
                <a:solidFill>
                  <a:schemeClr val="dk1"/>
                </a:solidFill>
                <a:latin typeface="Nunito ExtraLight"/>
                <a:ea typeface="Nunito ExtraLight"/>
                <a:cs typeface="Nunito ExtraLight"/>
                <a:sym typeface="Nunito ExtraLight"/>
              </a:rPr>
              <a:t>Pubmed search on March 20,2026</a:t>
            </a:r>
            <a:endParaRPr sz="1500">
              <a:solidFill>
                <a:schemeClr val="dk1"/>
              </a:solidFill>
              <a:latin typeface="Nunito ExtraLight"/>
              <a:ea typeface="Nunito ExtraLight"/>
              <a:cs typeface="Nunito ExtraLight"/>
              <a:sym typeface="Nunito ExtraLight"/>
            </a:endParaRPr>
          </a:p>
          <a:p>
            <a:pPr indent="-323850" lvl="1" marL="9144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ExtraLight"/>
              <a:buChar char="○"/>
            </a:pPr>
            <a:r>
              <a:rPr lang="en" sz="1500">
                <a:solidFill>
                  <a:schemeClr val="dk1"/>
                </a:solidFill>
                <a:latin typeface="Nunito ExtraLight"/>
                <a:ea typeface="Nunito ExtraLight"/>
                <a:cs typeface="Nunito ExtraLight"/>
                <a:sym typeface="Nunito ExtraLight"/>
              </a:rPr>
              <a:t>22 selected papers (14 DM/DFU-specific)</a:t>
            </a:r>
            <a:endParaRPr sz="1500">
              <a:solidFill>
                <a:schemeClr val="dk1"/>
              </a:solidFill>
              <a:latin typeface="Nunito ExtraLight"/>
              <a:ea typeface="Nunito ExtraLight"/>
              <a:cs typeface="Nunito ExtraLight"/>
              <a:sym typeface="Nunito ExtraLight"/>
            </a:endParaRPr>
          </a:p>
          <a:p>
            <a:pPr indent="-209550" lvl="0" marL="40005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ExtraLight"/>
              <a:buChar char="●"/>
            </a:pPr>
            <a:r>
              <a:rPr lang="en" sz="1500">
                <a:solidFill>
                  <a:schemeClr val="dk1"/>
                </a:solidFill>
                <a:latin typeface="Nunito ExtraLight"/>
                <a:ea typeface="Nunito ExtraLight"/>
                <a:cs typeface="Nunito ExtraLight"/>
                <a:sym typeface="Nunito ExtraLight"/>
              </a:rPr>
              <a:t>NLP Pipeline</a:t>
            </a:r>
            <a:endParaRPr sz="1500">
              <a:solidFill>
                <a:schemeClr val="dk1"/>
              </a:solidFill>
              <a:latin typeface="Nunito ExtraLight"/>
              <a:ea typeface="Nunito ExtraLight"/>
              <a:cs typeface="Nunito ExtraLight"/>
              <a:sym typeface="Nunito ExtraLight"/>
            </a:endParaRPr>
          </a:p>
          <a:p>
            <a:pPr indent="-323850" lvl="1" marL="9144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ExtraLight"/>
              <a:buChar char="○"/>
            </a:pPr>
            <a:r>
              <a:rPr lang="en" sz="1500">
                <a:solidFill>
                  <a:schemeClr val="dk1"/>
                </a:solidFill>
                <a:latin typeface="Nunito ExtraLight"/>
                <a:ea typeface="Nunito ExtraLight"/>
                <a:cs typeface="Nunito ExtraLight"/>
                <a:sym typeface="Nunito ExtraLight"/>
              </a:rPr>
              <a:t>Text processing - combine, convert to lower case, remove special characters</a:t>
            </a:r>
            <a:endParaRPr sz="1500">
              <a:solidFill>
                <a:schemeClr val="dk1"/>
              </a:solidFill>
              <a:latin typeface="Nunito ExtraLight"/>
              <a:ea typeface="Nunito ExtraLight"/>
              <a:cs typeface="Nunito ExtraLight"/>
              <a:sym typeface="Nunito ExtraLight"/>
            </a:endParaRPr>
          </a:p>
          <a:p>
            <a:pPr indent="-323850" lvl="1" marL="9144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ExtraLight"/>
              <a:buChar char="○"/>
            </a:pPr>
            <a:r>
              <a:rPr lang="en" sz="1500">
                <a:solidFill>
                  <a:schemeClr val="dk1"/>
                </a:solidFill>
                <a:latin typeface="Nunito ExtraLight"/>
                <a:ea typeface="Nunito ExtraLight"/>
                <a:cs typeface="Nunito ExtraLight"/>
                <a:sym typeface="Nunito ExtraLight"/>
              </a:rPr>
              <a:t>Tokenization &amp; remove stop words</a:t>
            </a:r>
            <a:endParaRPr sz="1500">
              <a:solidFill>
                <a:schemeClr val="dk1"/>
              </a:solidFill>
              <a:latin typeface="Nunito ExtraLight"/>
              <a:ea typeface="Nunito ExtraLight"/>
              <a:cs typeface="Nunito ExtraLight"/>
              <a:sym typeface="Nunito ExtraLight"/>
            </a:endParaRPr>
          </a:p>
          <a:p>
            <a:pPr indent="-323850" lvl="1" marL="9144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ExtraLight"/>
              <a:buChar char="○"/>
            </a:pPr>
            <a:r>
              <a:rPr lang="en" sz="1500">
                <a:solidFill>
                  <a:schemeClr val="dk1"/>
                </a:solidFill>
                <a:latin typeface="Nunito ExtraLight"/>
                <a:ea typeface="Nunito ExtraLight"/>
                <a:cs typeface="Nunito ExtraLight"/>
                <a:sym typeface="Nunito ExtraLight"/>
              </a:rPr>
              <a:t>Lemmatization</a:t>
            </a:r>
            <a:endParaRPr sz="1500">
              <a:solidFill>
                <a:schemeClr val="dk1"/>
              </a:solidFill>
              <a:latin typeface="Nunito ExtraLight"/>
              <a:ea typeface="Nunito ExtraLight"/>
              <a:cs typeface="Nunito ExtraLight"/>
              <a:sym typeface="Nunito ExtraLight"/>
            </a:endParaRPr>
          </a:p>
          <a:p>
            <a:pPr indent="-209550" lvl="0" marL="40005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ExtraLight"/>
              <a:buChar char="●"/>
            </a:pPr>
            <a:r>
              <a:rPr lang="en" sz="1500">
                <a:solidFill>
                  <a:schemeClr val="dk1"/>
                </a:solidFill>
                <a:latin typeface="Nunito ExtraLight"/>
                <a:ea typeface="Nunito ExtraLight"/>
                <a:cs typeface="Nunito ExtraLight"/>
                <a:sym typeface="Nunito ExtraLight"/>
              </a:rPr>
              <a:t>Interpretation</a:t>
            </a:r>
            <a:endParaRPr sz="1500">
              <a:solidFill>
                <a:schemeClr val="dk1"/>
              </a:solidFill>
              <a:latin typeface="Nunito ExtraLight"/>
              <a:ea typeface="Nunito ExtraLight"/>
              <a:cs typeface="Nunito ExtraLight"/>
              <a:sym typeface="Nunito ExtraLight"/>
            </a:endParaRPr>
          </a:p>
          <a:p>
            <a:pPr indent="-323850" lvl="1" marL="9144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ExtraLight"/>
              <a:buChar char="○"/>
            </a:pPr>
            <a:r>
              <a:rPr lang="en" sz="1500">
                <a:solidFill>
                  <a:schemeClr val="dk1"/>
                </a:solidFill>
                <a:latin typeface="Nunito ExtraLight"/>
                <a:ea typeface="Nunito ExtraLight"/>
                <a:cs typeface="Nunito ExtraLight"/>
                <a:sym typeface="Nunito ExtraLight"/>
              </a:rPr>
              <a:t>Risk of ethnoracial bias and disparity gap</a:t>
            </a:r>
            <a:endParaRPr sz="1500">
              <a:solidFill>
                <a:schemeClr val="dk1"/>
              </a:solidFill>
              <a:latin typeface="Nunito ExtraLight"/>
              <a:ea typeface="Nunito ExtraLight"/>
              <a:cs typeface="Nunito ExtraLight"/>
              <a:sym typeface="Nunito ExtraLight"/>
            </a:endParaRPr>
          </a:p>
          <a:p>
            <a:pPr indent="-323850" lvl="1" marL="9144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ExtraLight"/>
              <a:buChar char="○"/>
            </a:pPr>
            <a:r>
              <a:rPr lang="en" sz="1500">
                <a:solidFill>
                  <a:schemeClr val="dk1"/>
                </a:solidFill>
                <a:latin typeface="Nunito ExtraLight"/>
                <a:ea typeface="Nunito ExtraLight"/>
                <a:cs typeface="Nunito ExtraLight"/>
                <a:sym typeface="Nunito ExtraLight"/>
              </a:rPr>
              <a:t>Deploy autonomous AI to increase test adherence</a:t>
            </a:r>
            <a:endParaRPr sz="1500">
              <a:solidFill>
                <a:schemeClr val="dk1"/>
              </a:solidFill>
              <a:latin typeface="Nunito ExtraLight"/>
              <a:ea typeface="Nunito ExtraLight"/>
              <a:cs typeface="Nunito ExtraLight"/>
              <a:sym typeface="Nunito ExtraLight"/>
            </a:endParaRPr>
          </a:p>
          <a:p>
            <a:pPr indent="-323850" lvl="1" marL="914400" marR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500"/>
              <a:buFont typeface="Nunito ExtraLight"/>
              <a:buChar char="○"/>
            </a:pPr>
            <a:r>
              <a:rPr lang="en" sz="1500">
                <a:solidFill>
                  <a:schemeClr val="dk1"/>
                </a:solidFill>
                <a:latin typeface="Nunito ExtraLight"/>
                <a:ea typeface="Nunito ExtraLight"/>
                <a:cs typeface="Nunito ExtraLight"/>
                <a:sym typeface="Nunito ExtraLight"/>
              </a:rPr>
              <a:t>Evaluate equity as a workflow metric</a:t>
            </a:r>
            <a:endParaRPr sz="1500">
              <a:solidFill>
                <a:schemeClr val="dk1"/>
              </a:solidFill>
              <a:latin typeface="Nunito ExtraLight"/>
              <a:ea typeface="Nunito ExtraLight"/>
              <a:cs typeface="Nunito ExtraLight"/>
              <a:sym typeface="Nunito ExtraLight"/>
            </a:endParaRPr>
          </a:p>
        </p:txBody>
      </p:sp>
      <p:pic>
        <p:nvPicPr>
          <p:cNvPr id="131" name="Google Shape;13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03775" y="279575"/>
            <a:ext cx="1063605" cy="501001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7"/>
          <p:cNvSpPr txBox="1"/>
          <p:nvPr/>
        </p:nvSpPr>
        <p:spPr>
          <a:xfrm>
            <a:off x="5267650" y="4198125"/>
            <a:ext cx="2694000" cy="5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Figure 5</a:t>
            </a:r>
            <a:r>
              <a:rPr b="1" lang="en"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:</a:t>
            </a:r>
            <a:r>
              <a:rPr b="1" i="0" lang="en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b="0" i="0" lang="en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Word Cloud Results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3" name="Google Shape;133;p7" title="Word Cloud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43925" y="891388"/>
            <a:ext cx="3393000" cy="3360719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